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493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6080760" cy="45720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080760" y="6400800"/>
            <a:ext cx="6080760" cy="45720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 · EXPLORATORY DATA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Opinião Pública &amp; Inadimplência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estudos de EDA correlacionando dados públicos brasileiros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9050">
            <a:solidFill>
              <a:srgbClr val="E054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51560" y="386791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0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
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sobre o racismo no Brasil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CESOP/IPEC 04829 · abr/2023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3703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9050">
            <a:solidFill>
              <a:srgbClr val="0E8C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46520" y="386791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5FD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
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inadimplência no Brasil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(SGS) · 2012–2024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IMT-CD · Disciplina de Ciência de Dados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34924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82296" cy="100584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51560" y="19933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Murillo Penha Strina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22.00730-0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37960" y="1828800"/>
            <a:ext cx="534924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82296" cy="100584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766560" y="19933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Garcia Imendes Dechechi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22.01568-0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534924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22960" y="3090672"/>
            <a:ext cx="82296" cy="100584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51560" y="32552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Gozze Crapino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39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22.00667-2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090672"/>
            <a:ext cx="534924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537960" y="3090672"/>
            <a:ext cx="82296" cy="100584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766560" y="32552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Campos Dec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3639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22.00787-3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352544"/>
            <a:ext cx="534924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22960" y="4352544"/>
            <a:ext cx="82296" cy="100584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51560" y="45171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Martins Souza Paula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49011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22.00006-2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4352544"/>
            <a:ext cx="534924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537960" y="4352544"/>
            <a:ext cx="82296" cy="100584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766560" y="45171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Kenzo Ohara Sakae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66560" y="49011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22.00815-2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EDAs, uma pergunta comum: o que os dados revelam?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34924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49240" cy="64008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 A · Pesquisa de Opinião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CESOP/IPEC 04829 — percepção dos brasileiros sobre o racismo (2.000 entrevistas, abr/2023)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análises internas: paradoxo da consciência, distância social, cotas, racismo policial…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bases externas correlacionadas: PNAD/IBGE, TSE 2022, CNJ 2023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Técnicas: qui-quadrado, correlação, PCA, heatmaps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4924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49240" cy="64008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 B · Séries Temporais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PF e PJ no Brasil (Banco Central / SGS), jan/2012 a dez/2024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análises: ciclos, modalidades de crédito, sazonalidade…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Selic, IPCA, desemprego, PIB e endividamento das famílias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Técnicas: decomposição STL, correlação cruzada (CCF) com defasagem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0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Percepção dos brasileiros sobre o racismo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CESOP / IPEC 04829 · 2.000 eleitores · 14–18 abr/2023 · margem ± 2 p.p.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0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2.000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0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356616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internas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0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30936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externas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5256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0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±2 p.p.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905256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erro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ANÁLISE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paradoxo da consciência racial</a:t>
            </a:r>
            <a:endParaRPr lang="en-US" sz="2700" dirty="0"/>
          </a:p>
        </p:txBody>
      </p:sp>
      <p:pic>
        <p:nvPicPr>
          <p:cNvPr id="5" name="Image 0" descr="C:\Users\garci\Documents\ws\IMT_CD_PROJETO_1\parte_a_pesquisa_opiniao\figuras\fig_02_parado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7" y="1554480"/>
            <a:ext cx="10877245" cy="33832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02920" y="5166360"/>
            <a:ext cx="11155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02920" y="5166360"/>
            <a:ext cx="91440" cy="118872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152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555040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mostram que quase 90% concordam que "o Brasil é racista", mas menos de 15% admitem "ter atitudes racistas". Esse gap (IDCR) chega a ~74 p.p. e é maior justamente entre quem se declara branco: reconhece-se o racismo estrutural, mas foge-se da responsabilidade individual.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ANÁLISE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Anatomia do apoio às cotas</a:t>
            </a:r>
            <a:endParaRPr lang="en-US" sz="2700" dirty="0"/>
          </a:p>
        </p:txBody>
      </p:sp>
      <p:pic>
        <p:nvPicPr>
          <p:cNvPr id="5" name="Image 0" descr="C:\Users\garci\Documents\ws\IMT_CD_PROJETO_1\parte_a_pesquisa_opiniao\figuras\fig_05_co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39999"/>
            <a:ext cx="7040880" cy="3046681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72400" y="1600200"/>
            <a:ext cx="3931920" cy="4526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772400" y="1600200"/>
            <a:ext cx="91440" cy="452628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991856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10144" y="2130552"/>
            <a:ext cx="34747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Analisando o gráfico, o apoio às cotas segue uma hierarquia clara — PcD (88%) no topo e LGBTQIA+ (56%) na base. As cotas raciais são as que mais polarizam por posição política, com o apoio caindo à direita, sugerindo um apoio guiado pelo "merecimento percebido" de cada grupo.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CORRELAÇÃO EXTERNA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Representatividade política — TSE 2022</a:t>
            </a:r>
            <a:endParaRPr lang="en-US" sz="2700" dirty="0"/>
          </a:p>
        </p:txBody>
      </p:sp>
      <p:pic>
        <p:nvPicPr>
          <p:cNvPr id="5" name="Image 0" descr="C:\Users\garci\Documents\ws\IMT_CD_PROJETO_1\parte_a_pesquisa_opiniao\figuras\fig_11_t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998" y="1554480"/>
            <a:ext cx="8999525" cy="33832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02920" y="5166360"/>
            <a:ext cx="11155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02920" y="5166360"/>
            <a:ext cx="91440" cy="118872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152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555040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mostram que, embora negros sejam 56% da população, representam apenas ~36% dos candidatos e ~26% dos Deputados Federais eleitos — o funil candidato→eleito reduz ainda mais a representação. E ela não se correlaciona com a percepção de racismo por estado (r = −0,14).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CORRELAÇÃO EXTERNA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Pirâmide de exclusão no Judiciário — CNJ 2023</a:t>
            </a:r>
            <a:endParaRPr lang="en-US" sz="2700" dirty="0"/>
          </a:p>
        </p:txBody>
      </p:sp>
      <p:pic>
        <p:nvPicPr>
          <p:cNvPr id="5" name="Image 0" descr="C:\Users\garci\Documents\ws\IMT_CD_PROJETO_1\parte_a_pesquisa_opiniao\figuras\fig_12_cn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093" y="1554480"/>
            <a:ext cx="9483334" cy="33832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02920" y="5166360"/>
            <a:ext cx="11155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02920" y="5166360"/>
            <a:ext cx="91440" cy="118872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152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555040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Analisando os gráficos, a presença negra encolhe conforme se sobe na hierarquia do Judiciário: 28% dos servidores, 15% dos juízes e apenas 11% dos desembargadores — todos muito abaixo dos 56% da população. A exclusão estrutural confirma, na prática, a percepção declarada na pesquisa.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FD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Evolução da inadimplência no Brasil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do Brasil (SGS) · jan/2012 – dez/2024 · 156 meses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5FD0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anos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série mensal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5FD0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356616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5FD0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30936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macro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5256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5FD0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 + PJ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905256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físicas e jurídicas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ANÁLISE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Pessoas Físicas vs. Jurídicas</a:t>
            </a:r>
            <a:endParaRPr lang="en-US" sz="2700" dirty="0"/>
          </a:p>
        </p:txBody>
      </p:sp>
      <p:pic>
        <p:nvPicPr>
          <p:cNvPr id="5" name="Image 0" descr="C:\Users\garci\Documents\ws\IMT_CD_PROJETO_1\parte_b_series_temporais\fig_b02_pf_vs_p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79444"/>
            <a:ext cx="7040880" cy="4367792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72400" y="1600200"/>
            <a:ext cx="3931920" cy="4526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772400" y="1600200"/>
            <a:ext cx="91440" cy="452628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991856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10144" y="2130552"/>
            <a:ext cx="34747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mostram que a inadimplência das pessoas físicas é estruturalmente maior que a das jurídicas em todo o período. A PJ, porém, é mais volátil: amplia os movimentos nos momentos de choque, enquanto a PF mantém um patamar mais alto e estável.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ANÁLISE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Inadimplência e ciclos econômicos</a:t>
            </a:r>
            <a:endParaRPr lang="en-US" sz="2700" dirty="0"/>
          </a:p>
        </p:txBody>
      </p:sp>
      <p:pic>
        <p:nvPicPr>
          <p:cNvPr id="5" name="Image 0" descr="C:\Users\garci\Documents\ws\IMT_CD_PROJETO_1\parte_b_series_temporais\fig_b04_cic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81" y="1600200"/>
            <a:ext cx="6658158" cy="45262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72400" y="1600200"/>
            <a:ext cx="3931920" cy="4526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772400" y="1600200"/>
            <a:ext cx="91440" cy="452628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991856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10144" y="2130552"/>
            <a:ext cx="34747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Analisando a série, três choques se destacam: a recessão de 2015-16, a pandemia de 2020 e o ciclo de alta da Selic em 2021-22. Curiosamente, durante a pandemia a inadimplência caiu (Selic a 2% somada ao auxílio emergencial), contrariando a intuição.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ANÁLISE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Correlação com desemprego e PIB</a:t>
            </a:r>
            <a:endParaRPr lang="en-US" sz="2700" dirty="0"/>
          </a:p>
        </p:txBody>
      </p:sp>
      <p:pic>
        <p:nvPicPr>
          <p:cNvPr id="5" name="Image 0" descr="C:\Users\garci\Documents\ws\IMT_CD_PROJETO_1\parte_b_series_temporais\fig_b06_desemprego_p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79444"/>
            <a:ext cx="7040880" cy="4367792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72400" y="1600200"/>
            <a:ext cx="3931920" cy="4526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772400" y="1600200"/>
            <a:ext cx="91440" cy="452628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991856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10144" y="2130552"/>
            <a:ext cx="34747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mostram que o desemprego é o indicador de maior correlação contemporânea com a inadimplência: quando o emprego cai, o calote sobe quase junto. O PIB se move na direção inversa — renda e emprego são o canal mais imediato do calote.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ANÁLISE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Decomposição STL: tendência e sazonalidade</a:t>
            </a:r>
            <a:endParaRPr lang="en-US" sz="2700" dirty="0"/>
          </a:p>
        </p:txBody>
      </p:sp>
      <p:pic>
        <p:nvPicPr>
          <p:cNvPr id="5" name="Image 0" descr="C:\Users\garci\Documents\ws\IMT_CD_PROJETO_1\parte_b_series_temporais\fig_b08_decompos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115" y="1600200"/>
            <a:ext cx="4562490" cy="45262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72400" y="1600200"/>
            <a:ext cx="3931920" cy="4526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772400" y="1600200"/>
            <a:ext cx="91440" cy="452628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991856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10144" y="2130552"/>
            <a:ext cx="34747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Analisando a decomposição, a série se separa em tendência de longo prazo, sazonalidade e resíduo. Há um padrão sazonal claro — pico de inadimplência no início do ano, herança das dívidas do fim de ano — que fica escondido sob o ruído mensal.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ANÁLISE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Defasagem dos choques (Cross-Correlation)</a:t>
            </a:r>
            <a:endParaRPr lang="en-US" sz="2700" dirty="0"/>
          </a:p>
        </p:txBody>
      </p:sp>
      <p:pic>
        <p:nvPicPr>
          <p:cNvPr id="5" name="Image 0" descr="C:\Users\garci\Documents\ws\IMT_CD_PROJETO_1\parte_b_series_temporais\fig_b09_c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4772"/>
            <a:ext cx="7040880" cy="3877137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72400" y="1600200"/>
            <a:ext cx="3931920" cy="4526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772400" y="1600200"/>
            <a:ext cx="91440" cy="452628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991856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10144" y="2130552"/>
            <a:ext cx="34747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Analisando a correlação cruzada, a Selic tem efeito máximo sobre a inadimplência cerca de 6 meses depois, e o desemprego em 2-3 meses. Isso revela o tempo de transmissão dos choques — e que o endividamento alto, sozinho, não dispara o calote.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406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40680" cy="54864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 A — Opinião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consenso de que "o Brasil é racista", mas baixíssima responsabilização individual.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racial é estrutural e cresce na hierarquia (Judiciário, política).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desigualdade real não gera maior percepção — a desigualdade foi normalizada.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4406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40680" cy="54864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0" y="17373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 B — Inadimplência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468880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tem inadimplência estruturalmente maior que PJ; cartão de crédito lidera.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e desemprego antecipam a inadimplência (lag de ~2 a 6 meses).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Endividamento alto não implica inadimplência; pico sazonal em jan/fev.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897880"/>
            <a:ext cx="1115568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5897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comum: dados públicos brasileiros revelam desigualdades e dinâmicas que a intuição não capta.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Fontes, métodos e transparência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520440" cy="3657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520440" cy="50292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87552" y="1737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de dados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4128" y="2395728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CESOP/IPEC 04829 (Unicamp)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— PNAD Contínua (SIDRA)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— eleições 2022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CNJ — DataJud 2023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— SGS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1737360"/>
            <a:ext cx="3520440" cy="3657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617720" y="1737360"/>
            <a:ext cx="3520440" cy="50292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782312" y="1737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18888" y="2395728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Qui-quadrado e correlações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dimensões latentes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STL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cruzada (CCF)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(matplotlib/seaborn)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0" y="1737360"/>
            <a:ext cx="3520440" cy="3657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8412480" y="1737360"/>
            <a:ext cx="3520440" cy="502920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577072" y="1737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Entregáveis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13648" y="2395728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notebooks Colab executáveis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versionados no GitHub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Texto: intro, métodos, conclusão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(≤ 5 min) + slides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com sumário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solidFill>
            <a:srgbClr val="0F17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51560" y="5577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IA: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auxiliou na estruturação das análises, depuração (ex.: lógica de resposta múltipla cascateada) e código de visualização. Todo o código foi revisado, executado e validado pela equipe.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6080760" cy="457200"/>
          </a:xfrm>
          <a:prstGeom prst="rect">
            <a:avLst/>
          </a:prstGeom>
          <a:solidFill>
            <a:srgbClr val="E054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080760" y="6400800"/>
            <a:ext cx="6080760" cy="457200"/>
          </a:xfrm>
          <a:prstGeom prst="rect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1162</Words>
  <Application>Microsoft Office PowerPoint</Application>
  <PresentationFormat>Widescreen</PresentationFormat>
  <Paragraphs>157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 — EDA: Opinião Pública &amp; Inadimplência</dc:title>
  <dc:subject>PptxGenJS Presentation</dc:subject>
  <dc:creator>Grupo IMT-CD</dc:creator>
  <cp:lastModifiedBy>VINICIUS GARCIA IMENDES DECHECHI</cp:lastModifiedBy>
  <cp:revision>3</cp:revision>
  <dcterms:created xsi:type="dcterms:W3CDTF">2026-06-15T13:21:19Z</dcterms:created>
  <dcterms:modified xsi:type="dcterms:W3CDTF">2026-06-15T17:23:10Z</dcterms:modified>
</cp:coreProperties>
</file>